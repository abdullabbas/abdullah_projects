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05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2305A"/>
                </a:solidFill>
                <a:latin typeface="Calibri"/>
              </a:rPr>
              <a:t>ROAS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D94F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30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Email</c:v>
                </c:pt>
                <c:pt idx="1">
                  <c:v>Instagram</c:v>
                </c:pt>
                <c:pt idx="2">
                  <c:v>Google Ads</c:v>
                </c:pt>
                <c:pt idx="3">
                  <c:v>TikTok</c:v>
                </c:pt>
                <c:pt idx="4">
                  <c:v>Facebook</c:v>
                </c:pt>
                <c:pt idx="5">
                  <c:v>LinkedIn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150.80000000000001</c:v>
                </c:pt>
                <c:pt idx="1">
                  <c:v>34.06</c:v>
                </c:pt>
                <c:pt idx="2">
                  <c:v>33.57</c:v>
                </c:pt>
                <c:pt idx="3">
                  <c:v>33.08</c:v>
                </c:pt>
                <c:pt idx="4">
                  <c:v>31.24</c:v>
                </c:pt>
                <c:pt idx="5">
                  <c:v>23.51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3-4048-8DDC-17A1B461FB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05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2305A"/>
                </a:solidFill>
                <a:latin typeface="Calibri"/>
              </a:rPr>
              <a:t>ROAS by Campaign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2230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30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Retargeting</c:v>
                </c:pt>
                <c:pt idx="1">
                  <c:v>Lead Gen</c:v>
                </c:pt>
                <c:pt idx="2">
                  <c:v>Promotion</c:v>
                </c:pt>
                <c:pt idx="3">
                  <c:v>Awareness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43.96</c:v>
                </c:pt>
                <c:pt idx="1">
                  <c:v>41.73</c:v>
                </c:pt>
                <c:pt idx="2">
                  <c:v>39.5</c:v>
                </c:pt>
                <c:pt idx="3">
                  <c:v>34.9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7F-44DD-8732-6BB11B67B9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05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2305A"/>
                </a:solidFill>
                <a:latin typeface="Calibri"/>
              </a:rPr>
              <a:t>Current vs Proposed Spend Share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%</c:v>
                </c:pt>
              </c:strCache>
            </c:strRef>
          </c:tx>
          <c:spPr>
            <a:solidFill>
              <a:srgbClr val="C9D6E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30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LinkedIn</c:v>
                </c:pt>
                <c:pt idx="1">
                  <c:v>Google Ads</c:v>
                </c:pt>
                <c:pt idx="2">
                  <c:v>Instagram</c:v>
                </c:pt>
                <c:pt idx="3">
                  <c:v>Facebook</c:v>
                </c:pt>
                <c:pt idx="4">
                  <c:v>Email</c:v>
                </c:pt>
                <c:pt idx="5">
                  <c:v>TikTok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</c:v>
                </c:pt>
                <c:pt idx="1">
                  <c:v>29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04-404B-AB9D-9E94CA5F9E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%</c:v>
                </c:pt>
              </c:strCache>
            </c:strRef>
          </c:tx>
          <c:spPr>
            <a:solidFill>
              <a:srgbClr val="D94F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305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LinkedIn</c:v>
                </c:pt>
                <c:pt idx="1">
                  <c:v>Google Ads</c:v>
                </c:pt>
                <c:pt idx="2">
                  <c:v>Instagram</c:v>
                </c:pt>
                <c:pt idx="3">
                  <c:v>Facebook</c:v>
                </c:pt>
                <c:pt idx="4">
                  <c:v>Email</c:v>
                </c:pt>
                <c:pt idx="5">
                  <c:v>TikTok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</c:v>
                </c:pt>
                <c:pt idx="1">
                  <c:v>24</c:v>
                </c:pt>
                <c:pt idx="2">
                  <c:v>12</c:v>
                </c:pt>
                <c:pt idx="3">
                  <c:v>12</c:v>
                </c:pt>
                <c:pt idx="4">
                  <c:v>11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04-404B-AB9D-9E94CA5F9E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30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0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63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594360"/>
            <a:ext cx="274320" cy="274320"/>
          </a:xfrm>
          <a:prstGeom prst="ellipse">
            <a:avLst/>
          </a:prstGeom>
          <a:solidFill>
            <a:srgbClr val="18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484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Campaigns Analysis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 Case  —  Jan 2024 to Jun 2025  —  800 campaigns, 6 channels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8778240" cy="1417320"/>
          </a:xfrm>
          <a:prstGeom prst="roundRect">
            <a:avLst>
              <a:gd name="adj" fmla="val 6452"/>
            </a:avLst>
          </a:prstGeom>
          <a:solidFill>
            <a:srgbClr val="223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WE'RE ANSWERING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17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should our money go next year — and why?”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Marketing Manager  |  Data Analysis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384048"/>
            <a:ext cx="310896" cy="310896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5640" y="44805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079992" y="365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money come back overall?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837944"/>
            <a:ext cx="31729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891.28M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883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(EGP)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69164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61688" y="1837944"/>
            <a:ext cx="31729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22.47M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361688" y="26883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(EGP)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0416" y="169164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037576" y="1837944"/>
            <a:ext cx="31729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94F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39.67x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037576" y="26883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483864"/>
            <a:ext cx="31729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856K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342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24528" y="333756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61688" y="3483864"/>
            <a:ext cx="31729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43342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(EGP)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00416" y="333756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037576" y="3483864"/>
            <a:ext cx="31729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1.04K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8037576" y="433425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(EGP)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E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52395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decisively. </a:t>
            </a:r>
            <a:r>
              <a:rPr lang="en-US" sz="130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EGP spent returned ~39.67 EGP in revenue across 800 campaigns. But this blended figure is skewed by one near-free channel (Email) — the next slides unpack where that return is actually coming from.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Analysis  |  Budget Reallocation Case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384048"/>
            <a:ext cx="310896" cy="310896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5640" y="44805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079992" y="365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Not All Channels Earn Their Keep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earn their spend back?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00200"/>
          <a:ext cx="60350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6002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0" y="1746504"/>
            <a:ext cx="1874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4F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150.8x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WITH EMAIL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464040" y="16002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601200" y="1746504"/>
            <a:ext cx="1691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29.05x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WITHOUT EMAIL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78040" y="3017520"/>
            <a:ext cx="4251960" cy="2743200"/>
          </a:xfrm>
          <a:prstGeom prst="roundRect">
            <a:avLst>
              <a:gd name="adj" fmla="val 266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406640" y="32004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takes 39% of spend but only 23% of revenue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widest gap in the dataset. Google Ads is second-worst. Email must be judged separately: it carries no media cost, so comparing its ROAS directly to paid channels overstates paid performance.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Analysis  |  Budget Reallocation Case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384048"/>
            <a:ext cx="310896" cy="310896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5640" y="44805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079992" y="365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One Channel Dominates the Top Performers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best performers reliable, or just outliers?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837944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94F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353.81x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08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SINGLE CAMPAIGN ROAS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(CMP0367, Email)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837944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9x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0083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THE OVERALL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39.67x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478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75320" y="1837944"/>
            <a:ext cx="32735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94F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08376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CAMPAIGNS BY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ARE 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657600"/>
            <a:ext cx="1109167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686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REAL?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6052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Structurally, yes.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carries no media cost, so a high ROAS is expected. But the scale is what matters: Email's channel-level ROAS (150.8x) is 4.4x the next-best channel, Instagram (34.1x) — not a fluke, a consistent pattern.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budget: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highest-ROAS campaigns cluster at low spend. No campaign sustains a high ROAS at higher spend levels — meaning Email cannot simply absorb a much bigger budget and keep the same efficiency. It's limited by list size, not by money.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Analysis  |  Budget Reallocation Case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384048"/>
            <a:ext cx="310896" cy="310896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5640" y="44805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079992" y="365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Retargeting Wins, Awareness Lags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campaign type gives the best return, and who should we target?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0020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37960" y="160020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766560" y="1764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gets the largest budget share but the weakest ROAS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2402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and Lead Gen deserve more credit than ROAS alone gives them — but Awareness should be judged on reach (CTR/CPM), not revenue, since it isn't meant to convert immediately.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3749040"/>
            <a:ext cx="4892040" cy="2011680"/>
          </a:xfrm>
          <a:prstGeom prst="roundRect">
            <a:avLst>
              <a:gd name="adj" fmla="val 3636"/>
            </a:avLst>
          </a:prstGeom>
          <a:solidFill>
            <a:srgbClr val="F7E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766560" y="39136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audience: 35–44 (48.4x)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43891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shifts by channel: Email performs best with 35–44 (187x), while LinkedIn performs best with 18–24 (23.9x). Targeting should be set per channel, not as one blanket rule.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Analysis  |  Budget Reallocation Case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384048"/>
            <a:ext cx="310896" cy="310896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5640" y="44805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079992" y="365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Rebalance the Budget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next year's budget go, and why?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0020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1600200"/>
            <a:ext cx="3913632" cy="42062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818120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29.1x → mid-30s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606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paid-channel ROAS after shifting budget from LinkedIn / Google Ads into TikTok and Email.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520440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8181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MOVES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3950208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LinkedIn / Google Ads —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spend-vs-revenue gap in the data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TikTok —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CPC, most unused headroom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Email —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increase only; capped by list size, not budget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 Analysis  |  Budget Reallocation Case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771632" y="384048"/>
            <a:ext cx="310896" cy="310896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835640" y="448056"/>
            <a:ext cx="182880" cy="182880"/>
          </a:xfrm>
          <a:prstGeom prst="ellipse">
            <a:avLst/>
          </a:prstGeom>
          <a:solidFill>
            <a:srgbClr val="18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079992" y="365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BEAUTY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Next Steps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make this recommendation wrong, and what happens after this meeting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23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347472" cy="347472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 inflation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907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ROAS figures (e.g. 150.8x for Email) are unrealistically high. Only relative channel comparisons are reliable, not the raw numbers.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23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2029968"/>
            <a:ext cx="347472" cy="347472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2628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907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budget into a channel doesn't guarantee it scales at the same efficiency — CPCs typically rise as more inventory is bought.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23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2029968"/>
            <a:ext cx="347472" cy="347472"/>
          </a:xfrm>
          <a:prstGeom prst="ellipse">
            <a:avLst/>
          </a:prstGeom>
          <a:solidFill>
            <a:srgbClr val="D94F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753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4871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LinkedIn's true value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907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high CPA may reflect a valuable B2B / high-intent audience, not waste. Cutting it too aggressively risks losing a segment other channels can't replace.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1C2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Approve the proposed channel split for next year's budget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Pilot the LinkedIn/Google Ads reduction over one quarter before a full-year commitment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Re-run this analysis on the full dataset each quarter to validate the trend holds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happy to take questions.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768</Words>
  <Application>Microsoft Office PowerPoint</Application>
  <PresentationFormat>Widescreen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Abdullah 20250586</cp:lastModifiedBy>
  <cp:revision>2</cp:revision>
  <dcterms:created xsi:type="dcterms:W3CDTF">2026-09-26T09:02:55Z</dcterms:created>
  <dcterms:modified xsi:type="dcterms:W3CDTF">2026-09-26T10:54:26Z</dcterms:modified>
</cp:coreProperties>
</file>